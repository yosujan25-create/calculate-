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76976" y="914400"/>
            <a:ext cx="8207567" cy="1308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1E3248"/>
                </a:solidFill>
                <a:latin typeface="Arial"/>
              </a:defRPr>
            </a:pPr>
            <a:r>
              <a:rPr dirty="0"/>
              <a:t>CALCULATOR AND CONVERTER SYSTEM</a:t>
            </a:r>
            <a:endParaRPr lang="en-GB" dirty="0"/>
          </a:p>
          <a:p>
            <a:pPr algn="ctr">
              <a:defRPr sz="3100" b="1">
                <a:solidFill>
                  <a:srgbClr val="1E3248"/>
                </a:solidFill>
                <a:latin typeface="Arial"/>
              </a:defRPr>
            </a:pPr>
            <a:r>
              <a:rPr dirty="0"/>
              <a:t> Project Documentation</a:t>
            </a:r>
          </a:p>
          <a:p>
            <a:pPr algn="ctr">
              <a:defRPr sz="1700">
                <a:solidFill>
                  <a:srgbClr val="696969"/>
                </a:solidFill>
                <a:latin typeface="Arial"/>
              </a:defRPr>
            </a:pPr>
            <a:r>
              <a:rPr dirty="0"/>
              <a:t>A Go Programming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53040" y="3703320"/>
            <a:ext cx="4655441" cy="160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1500">
                <a:solidFill>
                  <a:srgbClr val="696969"/>
                </a:solidFill>
                <a:latin typeface="Arial"/>
              </a:defRPr>
            </a:pPr>
            <a:r>
              <a:rPr dirty="0"/>
              <a:t>Submitted by: </a:t>
            </a:r>
            <a:r>
              <a:rPr lang="en-GB" dirty="0"/>
              <a:t>Sushil Rumba and Sujan Yokpangen</a:t>
            </a:r>
            <a:endParaRPr dirty="0"/>
          </a:p>
          <a:p>
            <a:pPr algn="ctr">
              <a:spcAft>
                <a:spcPts val="700"/>
              </a:spcAft>
              <a:defRPr sz="1500">
                <a:solidFill>
                  <a:srgbClr val="696969"/>
                </a:solidFill>
                <a:latin typeface="Arial"/>
              </a:defRPr>
            </a:pPr>
            <a:r>
              <a:rPr dirty="0"/>
              <a:t>Program: Bachelor of Computer Science (BCS)</a:t>
            </a:r>
          </a:p>
          <a:p>
            <a:pPr algn="ctr">
              <a:spcAft>
                <a:spcPts val="700"/>
              </a:spcAft>
              <a:defRPr sz="1500">
                <a:solidFill>
                  <a:srgbClr val="696969"/>
                </a:solidFill>
                <a:latin typeface="Arial"/>
              </a:defRPr>
            </a:pPr>
            <a:r>
              <a:rPr dirty="0"/>
              <a:t>Semester: </a:t>
            </a:r>
            <a:r>
              <a:rPr lang="en-GB" dirty="0"/>
              <a:t>Second</a:t>
            </a:r>
            <a:endParaRPr dirty="0"/>
          </a:p>
          <a:p>
            <a:pPr algn="ctr">
              <a:spcAft>
                <a:spcPts val="700"/>
              </a:spcAft>
              <a:defRPr sz="1500">
                <a:solidFill>
                  <a:srgbClr val="696969"/>
                </a:solidFill>
                <a:latin typeface="Arial"/>
              </a:defRPr>
            </a:pPr>
            <a:r>
              <a:rPr dirty="0"/>
              <a:t>College / University: </a:t>
            </a:r>
            <a:r>
              <a:rPr lang="en-GB" dirty="0"/>
              <a:t>NCMT</a:t>
            </a:r>
            <a:endParaRPr dirty="0"/>
          </a:p>
          <a:p>
            <a:pPr algn="ctr">
              <a:spcAft>
                <a:spcPts val="700"/>
              </a:spcAft>
              <a:defRPr sz="1500">
                <a:solidFill>
                  <a:srgbClr val="696969"/>
                </a:solidFill>
                <a:latin typeface="Arial"/>
              </a:defRPr>
            </a:pPr>
            <a:r>
              <a:rPr dirty="0"/>
              <a:t>Academic Year: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CERTIFICATION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33272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rPr dirty="0"/>
              <a:t>This project documentation is submitted as part of the academic requirements of the Bachelor of Computer Science (BCS) program.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rPr dirty="0"/>
              <a:t>The project presents the design and implementation of a Calculator and Converter system using the Go programming language.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endParaRPr dirty="0"/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rPr dirty="0"/>
              <a:t>Student Name:</a:t>
            </a:r>
            <a:r>
              <a:rPr lang="en-GB" dirty="0"/>
              <a:t> Sushil Rumba and Sujan Yokpangen</a:t>
            </a:r>
            <a:r>
              <a:rPr dirty="0"/>
              <a:t> 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rPr dirty="0"/>
              <a:t>Roll No.: </a:t>
            </a:r>
            <a:r>
              <a:rPr lang="en-GB" dirty="0"/>
              <a:t>21and 20</a:t>
            </a:r>
            <a:r>
              <a:rPr dirty="0"/>
              <a:t>   Semester:</a:t>
            </a:r>
            <a:r>
              <a:rPr lang="en-GB" dirty="0"/>
              <a:t> Second</a:t>
            </a:r>
            <a:endParaRPr dirty="0"/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rPr dirty="0"/>
              <a:t>Supervisor:</a:t>
            </a:r>
            <a:r>
              <a:rPr lang="en-GB" dirty="0"/>
              <a:t> Ayush Acharya</a:t>
            </a:r>
            <a:r>
              <a:rPr dirty="0"/>
              <a:t> 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rPr dirty="0"/>
              <a:t>Date: </a:t>
            </a:r>
            <a:r>
              <a:rPr lang="en-GB" dirty="0"/>
              <a:t>2083-06-08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This project presents a combined Calculator and Converter system developed using Go. The Calculator performs basic arithmetic operations and maintains a history of calculations. The Converter performs unit conversions and maintains a history of conversion activities.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system demonstrates important Go programming concepts including structures, methods, pointer receivers, slices, maps, error handling, and concurrency.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Converter uses sync.Mutex to protect the shared History slice when conversion operations are performed by multiple goroutines. This design helps prevent data races and provides a practical example of synchronization in Go.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project is intended as a simple academic implementation that can be extended into a complete command-line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rPr dirty="0"/>
              <a:t>1. Introduction</a:t>
            </a:r>
            <a:r>
              <a:rPr lang="en-GB" dirty="0"/>
              <a:t>                                                                                                                                                                                   </a:t>
            </a:r>
            <a:endParaRPr dirty="0"/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rPr dirty="0"/>
              <a:t>2. Problem Statement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rPr dirty="0"/>
              <a:t>3. Objectives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rPr dirty="0"/>
              <a:t>4. Scope of the Project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rPr dirty="0"/>
              <a:t>5. System Requirements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rPr dirty="0"/>
              <a:t>6. System Design and Architecture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rPr dirty="0"/>
              <a:t>7. Calculator Module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rPr dirty="0"/>
              <a:t>8. Converter Module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rPr dirty="0"/>
              <a:t>9. Concurrency and Synchronization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rPr dirty="0"/>
              <a:t>10. Error Handling and Testing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rPr dirty="0"/>
              <a:t>11. Results and Discussion</a:t>
            </a:r>
          </a:p>
          <a:p>
            <a:pPr>
              <a:spcAft>
                <a:spcPts val="1200"/>
              </a:spcAft>
              <a:defRPr sz="1400">
                <a:solidFill>
                  <a:srgbClr val="2D2D2D"/>
                </a:solidFill>
                <a:latin typeface="Arial"/>
              </a:defRPr>
            </a:pPr>
            <a:r>
              <a:rPr dirty="0"/>
              <a:t>12. Conclusion and Future Enhancement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CHAPTER 1 —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A calculator and unit converter are common utility applications that provide a useful starting point for learning programming concepts.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This project combines both functions into a single Go-based system.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The implementation follows a structured design where data and related operations are grouped using Go structs and methods.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The project also introduces concurrent programming through goroutines and protects shared conversion history with a mutex.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CHAPTER 2 —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Students learning Go need practical examples that combine basic programming with real application design.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A simple calculator demonstrates arithmetic logic but provides limited exposure to shared state and concurrency.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A converter with history provides a better example of reusable functions, maps, error handling, and stored state.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When several goroutines update the same history, unsynchronized access can produce a data race.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Therefore, the project addresses both functional utility and safe handling of shared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CHAPTER 3 —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Develop a functional calculator for addition, subtraction, multiplication, and division.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Develop a unit converter using lookup tables and conversion factors.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Maintain calculation and conversion history.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Use pointer receivers to update the state of Calculator and Converter objects.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Implement error handling for invalid operations.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Use sync.Mutex to protect shared converter history during concurrent execution.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Test the application using normal cases and Go's race detector.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CHAPTER 4 — SCOPE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The project focuses on a small educational utility system written in Go.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Calculator scope: basic arithmetic operations and calculation history.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Converter scope: supported unit conversions, conversion factors, and conversion history.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Concurrency scope: safe modification of the Converter History slice.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The current design is suitable for extension with a CLI interface, persistent storage, additional units, and automated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CHAPTER 5 — SYSTEM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Software: Go programming language and a code editor such as Visual Studio Code.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Operating system: Windows, Linux, or macOS.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Go standard packages used include errors, fmt, strings, and sync.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Basic knowledge of Go syntax, structs, methods, slices, maps, and goroutines is sufficient.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No external database is required because history is stored in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CHAPTER 6 — SYSTEM DESIGN AND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691640" cy="822960"/>
          </a:xfrm>
          <a:prstGeom prst="roundRect">
            <a:avLst/>
          </a:prstGeom>
          <a:solidFill>
            <a:srgbClr val="F6F7F9"/>
          </a:solidFill>
          <a:ln>
            <a:solidFill>
              <a:srgbClr val="40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304288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248"/>
                </a:solidFill>
                <a:latin typeface="Arial"/>
              </a:defRPr>
            </a:pPr>
            <a:r>
              <a:t>User Input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68880" y="2331720"/>
            <a:ext cx="411480" cy="274320"/>
          </a:xfrm>
          <a:prstGeom prst="rightArrow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0" y="2057400"/>
            <a:ext cx="1691640" cy="822960"/>
          </a:xfrm>
          <a:prstGeom prst="roundRect">
            <a:avLst/>
          </a:prstGeom>
          <a:solidFill>
            <a:srgbClr val="F6F7F9"/>
          </a:solidFill>
          <a:ln>
            <a:solidFill>
              <a:srgbClr val="40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2304288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248"/>
                </a:solidFill>
                <a:latin typeface="Arial"/>
              </a:defRPr>
            </a:pPr>
            <a:r>
              <a:t>Calculator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26280" y="2331720"/>
            <a:ext cx="411480" cy="274320"/>
          </a:xfrm>
          <a:prstGeom prst="rightArrow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00600" y="2057400"/>
            <a:ext cx="1691640" cy="822960"/>
          </a:xfrm>
          <a:prstGeom prst="roundRect">
            <a:avLst/>
          </a:prstGeom>
          <a:solidFill>
            <a:srgbClr val="F6F7F9"/>
          </a:solidFill>
          <a:ln>
            <a:solidFill>
              <a:srgbClr val="40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304288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248"/>
                </a:solidFill>
                <a:latin typeface="Arial"/>
              </a:defRPr>
            </a:pPr>
            <a:r>
              <a:t>Converter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83680" y="2331720"/>
            <a:ext cx="411480" cy="274320"/>
          </a:xfrm>
          <a:prstGeom prst="rightArrow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58000" y="2057400"/>
            <a:ext cx="1691640" cy="822960"/>
          </a:xfrm>
          <a:prstGeom prst="roundRect">
            <a:avLst/>
          </a:prstGeom>
          <a:solidFill>
            <a:srgbClr val="F6F7F9"/>
          </a:solidFill>
          <a:ln>
            <a:solidFill>
              <a:srgbClr val="40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2304288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248"/>
                </a:solidFill>
                <a:latin typeface="Arial"/>
              </a:defRPr>
            </a:pPr>
            <a:r>
              <a:t>History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41080" y="2331720"/>
            <a:ext cx="411480" cy="274320"/>
          </a:xfrm>
          <a:prstGeom prst="rightArrow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0" y="2057400"/>
            <a:ext cx="1691640" cy="822960"/>
          </a:xfrm>
          <a:prstGeom prst="roundRect">
            <a:avLst/>
          </a:prstGeom>
          <a:solidFill>
            <a:srgbClr val="F6F7F9"/>
          </a:solidFill>
          <a:ln>
            <a:solidFill>
              <a:srgbClr val="40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2304288"/>
            <a:ext cx="1691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248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user provides input to either the Calculator or Converter.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selected module performs the required operation.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result is stored or recorded in the appropriate History slice.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Converter uses a mutex when history is updated concurrently.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CHAPTER 7 — CALCULATOR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52760" cy="3246120"/>
          </a:xfrm>
          <a:prstGeom prst="roundRect">
            <a:avLst/>
          </a:prstGeom>
          <a:solidFill>
            <a:srgbClr val="EFF1F4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27048"/>
            <a:ext cx="1014984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Consolas"/>
              </a:defRPr>
            </a:pPr>
            <a:r>
              <a:t>type Calculator struct {</a:t>
            </a:r>
            <a:br/>
            <a:r>
              <a:t>    Result  float64</a:t>
            </a:r>
            <a:br/>
            <a:r>
              <a:t>    History []string</a:t>
            </a:r>
            <a:br/>
            <a:r>
              <a:t>}</a:t>
            </a:r>
            <a:br/>
            <a:br/>
            <a:r>
              <a:t>func NewCalculator() *Calculator {</a:t>
            </a:r>
            <a:br/>
            <a:r>
              <a:t>    return &amp;Calculator{</a:t>
            </a:r>
            <a:br/>
            <a:r>
              <a:t>        History: make([]string, 0),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54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Result stores the latest calculation result.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History stores an in-memory record of calculations.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NewCalculator initializes the history and returns a pointer to Calculator.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7.1 Calculator — Calculate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10652760" cy="4251960"/>
          </a:xfrm>
          <a:prstGeom prst="roundRect">
            <a:avLst/>
          </a:prstGeom>
          <a:solidFill>
            <a:srgbClr val="EFF1F4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81328"/>
            <a:ext cx="1014984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Consolas"/>
              </a:defRPr>
            </a:pPr>
            <a:r>
              <a:t>func (c *Calculator) Calculate(</a:t>
            </a:r>
            <a:br/>
            <a:r>
              <a:t>    a, b float64, op string) (float64, error) {</a:t>
            </a:r>
            <a:br/>
            <a:br/>
            <a:r>
              <a:t>    var result float64</a:t>
            </a:r>
            <a:br/>
            <a:br/>
            <a:r>
              <a:t>    switch op {</a:t>
            </a:r>
            <a:br/>
            <a:r>
              <a:t>    case "+":</a:t>
            </a:r>
            <a:br/>
            <a:r>
              <a:t>        result = c.add(a, b)</a:t>
            </a:r>
            <a:br/>
            <a:r>
              <a:t>    case "-":</a:t>
            </a:r>
            <a:br/>
            <a:r>
              <a:t>        result = c.subtract(a, b)</a:t>
            </a:r>
            <a:br/>
            <a:r>
              <a:t>    case "*":</a:t>
            </a:r>
            <a:br/>
            <a:r>
              <a:t>        result = c.multiply(a, b)</a:t>
            </a:r>
            <a:br/>
            <a:r>
              <a:t>    case "/":</a:t>
            </a:r>
            <a:br/>
            <a:r>
              <a:t>        result = c.divide(a, b)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235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  <a:latin typeface="Arial"/>
              </a:defRPr>
            </a:pPr>
            <a:r>
              <a:t>The pointer receiver allows the method to modify the original Calculator state.</a:t>
            </a:r>
          </a:p>
          <a:p>
            <a:pPr>
              <a:spcAft>
                <a:spcPts val="1200"/>
              </a:spcAft>
              <a:defRPr sz="1300">
                <a:solidFill>
                  <a:srgbClr val="2D2D2D"/>
                </a:solidFill>
                <a:latin typeface="Arial"/>
              </a:defRPr>
            </a:pPr>
            <a:r>
              <a:t>The switch statement selects the required operation.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CHAPTER 8 — CONVERTER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52760" cy="3246120"/>
          </a:xfrm>
          <a:prstGeom prst="roundRect">
            <a:avLst/>
          </a:prstGeom>
          <a:solidFill>
            <a:srgbClr val="EFF1F4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27048"/>
            <a:ext cx="1014984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Consolas"/>
              </a:defRPr>
            </a:pPr>
            <a:r>
              <a:t>type Converter struct {</a:t>
            </a:r>
            <a:br/>
            <a:r>
              <a:t>    mu      sync.Mutex</a:t>
            </a:r>
            <a:br/>
            <a:r>
              <a:t>    History []string</a:t>
            </a:r>
            <a:br/>
            <a:r>
              <a:t>}</a:t>
            </a:r>
            <a:br/>
            <a:br/>
            <a:r>
              <a:t>func NewConverter() *Converter {</a:t>
            </a:r>
            <a:br/>
            <a:r>
              <a:t>    return &amp;Converter{</a:t>
            </a:r>
            <a:br/>
            <a:r>
              <a:t>        History: make([]string, 0),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09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History stores conversion records.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mu is a synchronization lock used to protect History.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8.1 Converter — History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52760" cy="3017520"/>
          </a:xfrm>
          <a:prstGeom prst="roundRect">
            <a:avLst/>
          </a:prstGeom>
          <a:solidFill>
            <a:srgbClr val="EFF1F4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14984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Consolas"/>
              </a:defRPr>
            </a:pPr>
            <a:r>
              <a:t>func (cv *Converter) appendHistory(entry string) {</a:t>
            </a:r>
            <a:br/>
            <a:r>
              <a:t>    cv.mu.Lock()</a:t>
            </a:r>
            <a:br/>
            <a:r>
              <a:t>    defer cv.mu.Unlock()</a:t>
            </a:r>
            <a:br/>
            <a:br/>
            <a:r>
              <a:t>    cv.History = append(cv.History, entry)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720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cv refers to the current Converter.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cv.mu accesses the mutex stored in the Converter.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Lock() protects the critical section.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defer Unlock() releases the lock when the method returns.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8.2 Converter — Lookup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2834640"/>
          </a:xfrm>
          <a:prstGeom prst="roundRect">
            <a:avLst/>
          </a:prstGeom>
          <a:solidFill>
            <a:srgbClr val="EFF1F4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18488"/>
            <a:ext cx="1014984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  <a:latin typeface="Consolas"/>
              </a:defRPr>
            </a:pPr>
            <a:r>
              <a:t>var lengthUnits = map[string]float64{</a:t>
            </a:r>
            <a:br/>
            <a:r>
              <a:t>    "meter": 1,</a:t>
            </a:r>
            <a:br/>
            <a:r>
              <a:t>    "kilometer": 1000,</a:t>
            </a:r>
            <a:br/>
            <a:r>
              <a:t>    "centimeter": 0.01,</a:t>
            </a:r>
            <a:br/>
            <a:r>
              <a:t>    "mile": 1609.344,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720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A map associates a unit name with its conversion factor.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same approach can be used for weight and other supported categories.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New units can be added without redesigning the whole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CHAPTER 9 — CONCURRENCY AND SYNCHRONIZATION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Batch conversion operations may run in multiple goroutines.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Each goroutine can attempt to append an entry to the same History slice.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Concurrent modification of shared data without synchronization can cause a data race.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sync.Mutex provides mutual exclusion so that only one goroutine updates History at a time.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race detector can be used with go build -race to identify unsafe concurrent memory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9.1 Mutex Operation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554480" cy="777240"/>
          </a:xfrm>
          <a:prstGeom prst="roundRect">
            <a:avLst/>
          </a:prstGeom>
          <a:solidFill>
            <a:srgbClr val="F6F7F9"/>
          </a:solidFill>
          <a:ln>
            <a:solidFill>
              <a:srgbClr val="40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3248"/>
                </a:solidFill>
                <a:latin typeface="Arial"/>
              </a:defRPr>
            </a:pPr>
            <a:r>
              <a:t>Goroutine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50008" y="2441448"/>
            <a:ext cx="411480" cy="274320"/>
          </a:xfrm>
          <a:prstGeom prst="rightArrow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71800" y="2194560"/>
            <a:ext cx="1554480" cy="777240"/>
          </a:xfrm>
          <a:prstGeom prst="roundRect">
            <a:avLst/>
          </a:prstGeom>
          <a:solidFill>
            <a:srgbClr val="F6F7F9"/>
          </a:solidFill>
          <a:ln>
            <a:solidFill>
              <a:srgbClr val="40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24231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3248"/>
                </a:solidFill>
                <a:latin typeface="Arial"/>
              </a:defRPr>
            </a:pPr>
            <a:r>
              <a:t>Lock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90288" y="2441448"/>
            <a:ext cx="411480" cy="274320"/>
          </a:xfrm>
          <a:prstGeom prst="rightArrow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20640" y="2194560"/>
            <a:ext cx="1554480" cy="777240"/>
          </a:xfrm>
          <a:prstGeom prst="roundRect">
            <a:avLst/>
          </a:prstGeom>
          <a:solidFill>
            <a:srgbClr val="F6F7F9"/>
          </a:solidFill>
          <a:ln>
            <a:solidFill>
              <a:srgbClr val="40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24231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3248"/>
                </a:solidFill>
                <a:latin typeface="Arial"/>
              </a:defRPr>
            </a:pPr>
            <a:r>
              <a:t>Update History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739127" y="2441448"/>
            <a:ext cx="411480" cy="274320"/>
          </a:xfrm>
          <a:prstGeom prst="rightArrow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26679" y="2194560"/>
            <a:ext cx="1554480" cy="777240"/>
          </a:xfrm>
          <a:prstGeom prst="roundRect">
            <a:avLst/>
          </a:prstGeom>
          <a:solidFill>
            <a:srgbClr val="F6F7F9"/>
          </a:solidFill>
          <a:ln>
            <a:solidFill>
              <a:srgbClr val="40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24231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3248"/>
                </a:solidFill>
                <a:latin typeface="Arial"/>
              </a:defRPr>
            </a:pPr>
            <a:r>
              <a:t>Unlock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45167" y="2441448"/>
            <a:ext cx="411480" cy="274320"/>
          </a:xfrm>
          <a:prstGeom prst="rightArrow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46920" y="2194560"/>
            <a:ext cx="1554480" cy="777240"/>
          </a:xfrm>
          <a:prstGeom prst="roundRect">
            <a:avLst/>
          </a:prstGeom>
          <a:solidFill>
            <a:srgbClr val="F6F7F9"/>
          </a:solidFill>
          <a:ln>
            <a:solidFill>
              <a:srgbClr val="40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46920" y="24231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3248"/>
                </a:solidFill>
                <a:latin typeface="Arial"/>
              </a:defRPr>
            </a:pPr>
            <a:r>
              <a:t>Next Goroutine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The mutex creates a protected critical section around the History update.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CHAPTER 10 — ERROR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2560320"/>
          </a:xfrm>
          <a:prstGeom prst="roundRect">
            <a:avLst/>
          </a:prstGeom>
          <a:solidFill>
            <a:srgbClr val="EFF1F4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18488"/>
            <a:ext cx="10149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  <a:latin typeface="Consolas"/>
              </a:defRPr>
            </a:pPr>
            <a:r>
              <a:t>return 0, errors.New("unsupported unit")</a:t>
            </a:r>
            <a:br/>
            <a:br/>
            <a:r>
              <a:t>// Example:</a:t>
            </a:r>
            <a:br/>
            <a:r>
              <a:t>// division by zero</a:t>
            </a:r>
            <a:br/>
            <a:r>
              <a:t>// unsupported conversion 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errors package provides explicit error values.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Calculator can report invalid operations such as division by zero.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Converter can report unsupported or invalid units.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Error handling prevents invalid input from being treated as a successful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CHAPTER 10.1 —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10652760" cy="2194560"/>
          </a:xfrm>
          <a:prstGeom prst="roundRect">
            <a:avLst/>
          </a:prstGeom>
          <a:solidFill>
            <a:srgbClr val="EFF1F4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64208"/>
            <a:ext cx="10149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  <a:latin typeface="Consolas"/>
              </a:defRPr>
            </a:pPr>
            <a:r>
              <a:t>go build -race</a:t>
            </a:r>
            <a:br/>
            <a:br/>
            <a:r>
              <a:t>// Build and check the program</a:t>
            </a:r>
            <a:br/>
            <a:r>
              <a:t>// for data races.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Arithmetic tests: addition, subtraction, multiplication and division.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Error tests: division by zero and invalid operations.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Conversion tests: valid and unsupported units.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History tests: verify that operations are recorded.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Concurrency tests: run multiple conversions and check with the race detector.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CHAPTER 11 — RESULTS AND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Calculator module provides the required basic arithmetic operations and maintains calculation state.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Converter module provides unit conversion using lookup tables and records conversion history.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use of pointer receivers allows the modules to update their original objects.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mutex-based history update provides a controlled way to access shared state from multiple goroutines.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The combined design provides a practical demonstration of both fundamental and intermediate Go programming concepts.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CHAPTER 12 — CONCLUSION AND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Conclusion: The project successfully combines calculation, unit conversion, history management, error handling, and concurrency concepts in Go.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Future enhancement 1: Add a complete command-line interface with menus.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Future enhancement 2: Save history to a file or database.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Future enhancement 3: Add more length, weight, temperature, area, and volume units.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Future enhancement 4: Add automated unit tests and a cleaner user interface.</a:t>
            </a:r>
          </a:p>
          <a:p>
            <a:pPr>
              <a:spcAft>
                <a:spcPts val="1200"/>
              </a:spcAft>
              <a:defRPr sz="1500">
                <a:solidFill>
                  <a:srgbClr val="2D2D2D"/>
                </a:solidFill>
                <a:latin typeface="Arial"/>
              </a:defRPr>
            </a:pPr>
            <a:r>
              <a:t>Future enhancement 5: Separate the project into packages for better maintainability.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248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881360" cy="18288"/>
          </a:xfrm>
          <a:prstGeom prst="rect">
            <a:avLst/>
          </a:prstGeom>
          <a:solidFill>
            <a:srgbClr val="40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The Go Programming Language — official language documentation.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Go standard library documentation for errors, fmt, strings, and sync.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Go documentation on methods, pointers, slices, maps, and goroutines.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Project source code and implementation developed for this academic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6969"/>
                </a:solidFill>
                <a:latin typeface="Arial"/>
              </a:defRPr>
            </a:pPr>
            <a:r>
              <a:t>Calculator and Converter System | Thesis Documentation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3248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3756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696969"/>
                </a:solidFill>
                <a:latin typeface="Arial"/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1834</Words>
  <Application>Microsoft Office PowerPoint</Application>
  <PresentationFormat>Widescreen</PresentationFormat>
  <Paragraphs>166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Sushil Rumba</cp:lastModifiedBy>
  <cp:revision>3</cp:revision>
  <dcterms:created xsi:type="dcterms:W3CDTF">2013-01-27T09:14:16Z</dcterms:created>
  <dcterms:modified xsi:type="dcterms:W3CDTF">2026-09-24T16:13:07Z</dcterms:modified>
  <cp:category/>
</cp:coreProperties>
</file>